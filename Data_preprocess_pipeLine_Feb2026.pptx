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7" r:id="rId2"/>
    <p:sldId id="278" r:id="rId3"/>
    <p:sldId id="27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1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D2C54C-DDD6-4AD9-83E5-F9053932EA5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BBE3F-7122-42F7-8F7E-39A81D6AC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32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C:\Maya\Dropbox\Code\Nir Lab\Work\</a:t>
            </a:r>
            <a:r>
              <a:rPr lang="en-US" dirty="0" err="1"/>
              <a:t>preProcess</a:t>
            </a:r>
            <a:r>
              <a:rPr lang="en-US" dirty="0"/>
              <a:t>\</a:t>
            </a:r>
            <a:r>
              <a:rPr lang="en-US" dirty="0" err="1"/>
              <a:t>preProcessDepthUCLA</a:t>
            </a:r>
            <a:r>
              <a:rPr lang="en-US" dirty="0"/>
              <a:t>(subj,</a:t>
            </a:r>
            <a:r>
              <a:rPr lang="en-US" baseline="0" dirty="0"/>
              <a:t> </a:t>
            </a:r>
            <a:r>
              <a:rPr lang="en-US" baseline="0" dirty="0" err="1"/>
              <a:t>exp</a:t>
            </a:r>
            <a:r>
              <a:rPr lang="en-US" baseline="0" dirty="0"/>
              <a:t>)</a:t>
            </a:r>
          </a:p>
          <a:p>
            <a:endParaRPr lang="en-US" baseline="0" dirty="0"/>
          </a:p>
          <a:p>
            <a:r>
              <a:rPr lang="en-US" baseline="0" dirty="0"/>
              <a:t>Add synchronization between </a:t>
            </a:r>
            <a:r>
              <a:rPr lang="en-US" baseline="0" dirty="0" err="1"/>
              <a:t>blackRock</a:t>
            </a:r>
            <a:r>
              <a:rPr lang="en-US" baseline="0" dirty="0"/>
              <a:t> and NLX – based on stimulation </a:t>
            </a:r>
          </a:p>
          <a:p>
            <a:r>
              <a:rPr lang="en-US" baseline="0" dirty="0"/>
              <a:t>Add sleep scoring pipeline and synch to timestamps</a:t>
            </a:r>
          </a:p>
          <a:p>
            <a:r>
              <a:rPr lang="en-US" baseline="0" dirty="0"/>
              <a:t>Several bands of filters ([80-200], [300-500])</a:t>
            </a:r>
          </a:p>
          <a:p>
            <a:endParaRPr lang="en-US" baseline="0" dirty="0"/>
          </a:p>
          <a:p>
            <a:r>
              <a:rPr lang="en-US" baseline="0" dirty="0"/>
              <a:t>Add selection point – discard of channels at  SOZ</a:t>
            </a:r>
          </a:p>
          <a:p>
            <a:r>
              <a:rPr lang="en-US" baseline="0" dirty="0"/>
              <a:t>Add selection-point – detect candidate channels for spindle analysis</a:t>
            </a:r>
          </a:p>
          <a:p>
            <a:endParaRPr lang="en-US" baseline="0" dirty="0"/>
          </a:p>
          <a:p>
            <a:r>
              <a:rPr lang="en-US" baseline="0" dirty="0"/>
              <a:t>Look at alternative options – (1) Neuron 2017, (2) Harris – </a:t>
            </a:r>
            <a:r>
              <a:rPr lang="en-US" baseline="0" dirty="0" err="1"/>
              <a:t>KiloSort</a:t>
            </a:r>
            <a:r>
              <a:rPr lang="en-US" baseline="0" dirty="0"/>
              <a:t> - </a:t>
            </a:r>
            <a:r>
              <a:rPr lang="en-US" baseline="0" dirty="0" err="1"/>
              <a:t>neuroPixel</a:t>
            </a:r>
            <a:r>
              <a:rPr lang="en-US" baseline="0" dirty="0"/>
              <a:t> software – analyzes stability over a prolonged period</a:t>
            </a:r>
          </a:p>
          <a:p>
            <a:endParaRPr lang="en-US" baseline="0" dirty="0"/>
          </a:p>
          <a:p>
            <a:r>
              <a:rPr lang="en-US" baseline="0" dirty="0"/>
              <a:t>Anatomical localizations</a:t>
            </a: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BC4DB-2AF0-42B6-A1A0-794254B5AD34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2035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D36A-27C6-44A8-B0D9-A108FBFFB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E23A1-F70C-413F-8C33-386C8FF2C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05E07-D00C-43B9-8331-B440F4644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DA31-D2D7-41CF-B311-EAC923A3509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B83FE-D8DD-4C3F-BBE2-27504B2AF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5E822-AE83-4641-91E2-DA01BA6A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C137-2C11-4F40-BF60-AE6392B5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2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E0D0-0921-486D-883C-392D8979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CBA00-1552-46F3-A848-213C37DAE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992A5-A824-4537-9D64-2E58479B6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DA31-D2D7-41CF-B311-EAC923A3509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269C4-25CF-4E4C-B16F-3F0CBE9BA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73B75-1D33-43E9-BF2C-40CA75B2D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C137-2C11-4F40-BF60-AE6392B5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8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4A78E-C7E4-4475-8DE8-0E80521EE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8AC57-13FD-47BC-97DB-63916760F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7DBB4-DE21-4D7E-B9D5-70FC736A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DA31-D2D7-41CF-B311-EAC923A3509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2F550-B32E-4531-A8C6-05532966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7B30E-ECA1-40E5-B808-ACEF258B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C137-2C11-4F40-BF60-AE6392B5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87F53-048A-4EC7-818C-2CF509CA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C3A4F-9DB9-463C-AABF-D3179F36A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30A995-6777-44FB-867F-723AAFF22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0503A-BEC3-4A4C-940E-8BEFF3DCB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DA31-D2D7-41CF-B311-EAC923A3509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0C92E-8E9F-4763-BE2A-B4E47FCE5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B4B4D-AC71-44A6-BBBD-5911332D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C137-2C11-4F40-BF60-AE6392B5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0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D503-B6C6-4B0A-8849-D4B698C87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A959A-7CF6-4A39-AC99-3CE40CFF1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5012C-9998-48A3-9351-FAEDFFBFC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7F0E46-0A21-403F-822D-DB5B12BB9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8D784-D9BF-45D4-9C9A-0338F5E14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8F7519-F2B7-4EEB-ABEE-8A3DE654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DA31-D2D7-41CF-B311-EAC923A3509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F322A7-FF07-42E0-B452-466E41FED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BFCB2-5070-465D-9342-830FA854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C137-2C11-4F40-BF60-AE6392B5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85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7D1EC-94A0-4EC1-8290-844939FB6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628A22-E6CE-4ECB-BD40-0A35D1377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DA31-D2D7-41CF-B311-EAC923A3509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814D0-FD8F-45CD-932C-90CAACBC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1331A-8B00-4E67-94F3-CB530F7FA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C137-2C11-4F40-BF60-AE6392B5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6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588CEE-5900-42C2-B232-2140FB486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DA31-D2D7-41CF-B311-EAC923A3509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AA9547-23C5-4AC2-A688-028DD660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7418B-8480-42C2-ABB3-8133E508F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C137-2C11-4F40-BF60-AE6392B5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44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3C77-AA2E-4F7C-A623-A0F380932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82245-CC76-4641-B19B-B5EC123C1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9342B-0622-48CE-9D3C-420B21D37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4ACC2-BF8E-4002-BC27-8AD6EEAB3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DA31-D2D7-41CF-B311-EAC923A3509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325EC-F0F7-407C-8278-3E3A1CE0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0F934-5975-426B-9AD3-29670A46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C137-2C11-4F40-BF60-AE6392B5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8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F2A5-6FF3-42E2-9B0F-7BD380DD6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8AAB26-3E91-48FA-A0EF-0E005CDD5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81362-B6B8-45DE-B816-418CF7616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10C1F-5AE4-4187-ACA5-31DAD71C5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DA31-D2D7-41CF-B311-EAC923A3509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3AE17-402D-4EC3-AF77-977B193BF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A9F1C-8709-4989-8270-E8E969ED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C137-2C11-4F40-BF60-AE6392B5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53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586D-06BD-49E9-B526-A32F9D3CC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0013F-0D32-4A17-9098-D9C31FD45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7DCA9-2A8B-4E92-BD79-DFE21B54B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DA31-D2D7-41CF-B311-EAC923A3509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F29BF-2443-4365-A7DF-94ADD8EA0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25A9E-03E9-4490-B4E2-DAA147D1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C137-2C11-4F40-BF60-AE6392B5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29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7F339B-9DC9-4BAA-B63F-E5A0796A6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8DB49-BD0A-4E56-9195-58FE32230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A4130-51D1-4031-8F78-EB4B5193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8DA31-D2D7-41CF-B311-EAC923A3509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55ABB-63CA-4059-879A-ED782F906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69A05-A2DE-4D9E-BBB4-1C04C4C6B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C137-2C11-4F40-BF60-AE6392B5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03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AC9FAB-F9F8-4784-BA18-279A3D7E5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EED7D-3054-4C15-ABB7-D87C553A3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94C49-1584-434D-8865-02C05632B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58DA31-D2D7-41CF-B311-EAC923A3509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49287-5B0F-49E3-9B6A-A06944F81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A4C96-D3F8-47FA-95C6-D66D0B4AF2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EC137-2C11-4F40-BF60-AE6392B56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7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51892" y="303342"/>
            <a:ext cx="99305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NLX</a:t>
            </a:r>
            <a:endParaRPr lang="he-IL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780926" y="290190"/>
            <a:ext cx="130768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 err="1"/>
              <a:t>Natus</a:t>
            </a:r>
            <a:endParaRPr lang="he-IL" b="1" dirty="0"/>
          </a:p>
        </p:txBody>
      </p:sp>
      <p:sp>
        <p:nvSpPr>
          <p:cNvPr id="6" name="Flowchart: Process 5"/>
          <p:cNvSpPr/>
          <p:nvPr/>
        </p:nvSpPr>
        <p:spPr>
          <a:xfrm>
            <a:off x="2197931" y="618285"/>
            <a:ext cx="1317524" cy="688258"/>
          </a:xfrm>
          <a:prstGeom prst="flowChart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Extraction to mat file (40\2kHz)</a:t>
            </a:r>
            <a:endParaRPr lang="he-IL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Flowchart: Process 6"/>
          <p:cNvSpPr/>
          <p:nvPr/>
        </p:nvSpPr>
        <p:spPr>
          <a:xfrm>
            <a:off x="3643273" y="618285"/>
            <a:ext cx="1317524" cy="688258"/>
          </a:xfrm>
          <a:prstGeom prst="flowChart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Extraction to mat file (30\2kHz)</a:t>
            </a:r>
            <a:endParaRPr lang="he-IL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9" name="Straight Arrow Connector 8"/>
          <p:cNvCxnSpPr>
            <a:stCxn id="6" idx="2"/>
          </p:cNvCxnSpPr>
          <p:nvPr/>
        </p:nvCxnSpPr>
        <p:spPr>
          <a:xfrm>
            <a:off x="2856693" y="1306544"/>
            <a:ext cx="0" cy="2605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336448" y="1306544"/>
            <a:ext cx="0" cy="2605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Process 10"/>
          <p:cNvSpPr/>
          <p:nvPr/>
        </p:nvSpPr>
        <p:spPr>
          <a:xfrm>
            <a:off x="3697351" y="1567098"/>
            <a:ext cx="1278193" cy="688258"/>
          </a:xfrm>
          <a:prstGeom prst="flowChart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Transform to </a:t>
            </a:r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</a:rPr>
              <a:t>uV</a:t>
            </a:r>
            <a:endParaRPr lang="en-US" sz="12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Remove line noise (60Hz)</a:t>
            </a:r>
            <a:endParaRPr lang="he-IL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" name="Flowchart: Process 13"/>
          <p:cNvSpPr/>
          <p:nvPr/>
        </p:nvSpPr>
        <p:spPr>
          <a:xfrm>
            <a:off x="2197931" y="1567098"/>
            <a:ext cx="1317524" cy="688258"/>
          </a:xfrm>
          <a:prstGeom prst="flowChart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Transform to </a:t>
            </a:r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</a:rPr>
              <a:t>uV</a:t>
            </a:r>
            <a:endParaRPr lang="en-US" sz="12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Remove line noise (60Hz)</a:t>
            </a:r>
            <a:endParaRPr lang="he-IL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3567893" y="2868980"/>
            <a:ext cx="0" cy="2605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owchart: Process 22"/>
          <p:cNvSpPr/>
          <p:nvPr/>
        </p:nvSpPr>
        <p:spPr>
          <a:xfrm>
            <a:off x="2565799" y="3129534"/>
            <a:ext cx="2394998" cy="688258"/>
          </a:xfrm>
          <a:prstGeom prst="flowChart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Create average reference (based on </a:t>
            </a:r>
            <a:r>
              <a:rPr lang="en-US" sz="1200" b="1">
                <a:solidFill>
                  <a:schemeClr val="accent6">
                    <a:lumMod val="75000"/>
                  </a:schemeClr>
                </a:solidFill>
              </a:rPr>
              <a:t>8 electrodes in 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bundle), and remove from raw signal to get rid of large artifacts</a:t>
            </a:r>
            <a:endParaRPr lang="he-IL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Flowchart: Process 23"/>
          <p:cNvSpPr/>
          <p:nvPr/>
        </p:nvSpPr>
        <p:spPr>
          <a:xfrm>
            <a:off x="2565800" y="4107631"/>
            <a:ext cx="2004187" cy="688258"/>
          </a:xfrm>
          <a:prstGeom prst="flowChart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</a:rPr>
              <a:t>getSpikes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</a:rPr>
              <a:t>doClustering</a:t>
            </a:r>
            <a:endParaRPr lang="en-US" sz="12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(</a:t>
            </a:r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</a:rPr>
              <a:t>wave_clus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)</a:t>
            </a:r>
            <a:endParaRPr lang="he-IL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 flipH="1">
            <a:off x="3567892" y="3844427"/>
            <a:ext cx="1" cy="242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6478483" y="2951119"/>
            <a:ext cx="0" cy="1784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567893" y="2951119"/>
            <a:ext cx="29105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546099" y="2868980"/>
            <a:ext cx="134786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b="1" dirty="0" err="1"/>
              <a:t>uChannels</a:t>
            </a:r>
            <a:endParaRPr lang="he-IL" sz="1400" b="1" dirty="0"/>
          </a:p>
        </p:txBody>
      </p:sp>
      <p:sp>
        <p:nvSpPr>
          <p:cNvPr id="32" name="Flowchart: Process 31"/>
          <p:cNvSpPr/>
          <p:nvPr/>
        </p:nvSpPr>
        <p:spPr>
          <a:xfrm>
            <a:off x="5476390" y="3147763"/>
            <a:ext cx="2004187" cy="688258"/>
          </a:xfrm>
          <a:prstGeom prst="flowChart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 err="1">
                <a:solidFill>
                  <a:schemeClr val="accent6">
                    <a:lumMod val="75000"/>
                  </a:schemeClr>
                </a:solidFill>
              </a:rPr>
              <a:t>downSample</a:t>
            </a: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 – 1kHz</a:t>
            </a:r>
            <a:endParaRPr lang="he-IL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80575" y="3072986"/>
            <a:ext cx="1347862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 err="1"/>
              <a:t>uChannels</a:t>
            </a:r>
            <a:r>
              <a:rPr lang="en-US" sz="1200" dirty="0"/>
              <a:t> (LFP)</a:t>
            </a:r>
            <a:endParaRPr lang="he-IL" sz="1200" dirty="0"/>
          </a:p>
        </p:txBody>
      </p:sp>
      <p:sp>
        <p:nvSpPr>
          <p:cNvPr id="35" name="TextBox 34"/>
          <p:cNvSpPr txBox="1"/>
          <p:nvPr/>
        </p:nvSpPr>
        <p:spPr>
          <a:xfrm>
            <a:off x="7480575" y="3278335"/>
            <a:ext cx="1347862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 err="1"/>
              <a:t>MacroChannels</a:t>
            </a:r>
            <a:endParaRPr lang="he-IL" sz="1200" dirty="0"/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6478482" y="3836021"/>
            <a:ext cx="0" cy="2423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Process 38"/>
          <p:cNvSpPr/>
          <p:nvPr/>
        </p:nvSpPr>
        <p:spPr>
          <a:xfrm>
            <a:off x="5476389" y="4098919"/>
            <a:ext cx="3352049" cy="768358"/>
          </a:xfrm>
          <a:prstGeom prst="flowChart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Detect (discard) interictal spikes, also remove noisy\bad channels, threshold for excluding channels with high rates of interictal spikes</a:t>
            </a:r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6478482" y="4872844"/>
            <a:ext cx="0" cy="2423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lowchart: Process 44"/>
          <p:cNvSpPr/>
          <p:nvPr/>
        </p:nvSpPr>
        <p:spPr>
          <a:xfrm>
            <a:off x="5476389" y="5130175"/>
            <a:ext cx="3352049" cy="1302375"/>
          </a:xfrm>
          <a:prstGeom prst="flowChart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ripple detection – </a:t>
            </a:r>
          </a:p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Detection based on power-spectrum</a:t>
            </a:r>
          </a:p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Validation – looking at the power spectrum and duration of average ripple on every channel included in the analysis</a:t>
            </a:r>
          </a:p>
        </p:txBody>
      </p:sp>
      <p:sp>
        <p:nvSpPr>
          <p:cNvPr id="46" name="Right Brace 45"/>
          <p:cNvSpPr/>
          <p:nvPr/>
        </p:nvSpPr>
        <p:spPr>
          <a:xfrm>
            <a:off x="9237856" y="3041357"/>
            <a:ext cx="279524" cy="704939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7" name="TextBox 46"/>
          <p:cNvSpPr txBox="1"/>
          <p:nvPr/>
        </p:nvSpPr>
        <p:spPr>
          <a:xfrm>
            <a:off x="9517379" y="3234834"/>
            <a:ext cx="1347862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dirty="0"/>
              <a:t>Using original referencing</a:t>
            </a:r>
            <a:endParaRPr lang="he-IL" sz="1050" dirty="0"/>
          </a:p>
        </p:txBody>
      </p:sp>
      <p:sp>
        <p:nvSpPr>
          <p:cNvPr id="48" name="TextBox 47"/>
          <p:cNvSpPr txBox="1"/>
          <p:nvPr/>
        </p:nvSpPr>
        <p:spPr>
          <a:xfrm>
            <a:off x="7480575" y="3469297"/>
            <a:ext cx="2036805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200" dirty="0"/>
              <a:t>EEG channels (</a:t>
            </a:r>
            <a:r>
              <a:rPr lang="en-US" sz="1200" dirty="0" err="1"/>
              <a:t>Pz,Ez</a:t>
            </a:r>
            <a:r>
              <a:rPr lang="en-US" sz="1200" dirty="0"/>
              <a:t>, C3, C4)</a:t>
            </a:r>
            <a:endParaRPr lang="he-IL" sz="12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524000" y="2868979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lowchart: Process 49"/>
          <p:cNvSpPr/>
          <p:nvPr/>
        </p:nvSpPr>
        <p:spPr>
          <a:xfrm>
            <a:off x="2565800" y="4939318"/>
            <a:ext cx="2004187" cy="1356408"/>
          </a:xfrm>
          <a:prstGeom prst="flowChart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Synchronize spiking activity to behavior</a:t>
            </a:r>
          </a:p>
        </p:txBody>
      </p:sp>
      <p:sp>
        <p:nvSpPr>
          <p:cNvPr id="52" name="Flowchart: Process 51"/>
          <p:cNvSpPr/>
          <p:nvPr/>
        </p:nvSpPr>
        <p:spPr>
          <a:xfrm>
            <a:off x="9377618" y="5219900"/>
            <a:ext cx="1412073" cy="1087167"/>
          </a:xfrm>
          <a:prstGeom prst="flowChartProcess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Anatomical tracing of contacts and u-wires (Done by Rocelle) – choose MTL channels</a:t>
            </a:r>
            <a:endParaRPr lang="he-IL" sz="1200" b="1" dirty="0">
              <a:solidFill>
                <a:schemeClr val="accent1"/>
              </a:solidFill>
            </a:endParaRPr>
          </a:p>
        </p:txBody>
      </p:sp>
      <p:sp>
        <p:nvSpPr>
          <p:cNvPr id="54" name="Flowchart: Process 53"/>
          <p:cNvSpPr/>
          <p:nvPr/>
        </p:nvSpPr>
        <p:spPr>
          <a:xfrm>
            <a:off x="2197932" y="2381422"/>
            <a:ext cx="3593269" cy="426269"/>
          </a:xfrm>
          <a:prstGeom prst="flowChartProcess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Determining channel polarity – will determine if ripple peak is neg/pos (not critical for wake datasets)</a:t>
            </a:r>
            <a:endParaRPr lang="he-IL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5" name="Flowchart: Process 54"/>
          <p:cNvSpPr/>
          <p:nvPr/>
        </p:nvSpPr>
        <p:spPr>
          <a:xfrm>
            <a:off x="9086248" y="1969373"/>
            <a:ext cx="1911951" cy="824594"/>
          </a:xfrm>
          <a:prstGeom prst="flowChartProcess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Determining behavioral relevant timepoints based on maze log (start/N/D/G)</a:t>
            </a:r>
            <a:endParaRPr lang="he-IL" sz="1200" b="1" dirty="0">
              <a:solidFill>
                <a:srgbClr val="FF0000"/>
              </a:solidFill>
            </a:endParaRPr>
          </a:p>
        </p:txBody>
      </p:sp>
      <p:sp>
        <p:nvSpPr>
          <p:cNvPr id="56" name="Flowchart: Process 55"/>
          <p:cNvSpPr/>
          <p:nvPr/>
        </p:nvSpPr>
        <p:spPr>
          <a:xfrm>
            <a:off x="9277394" y="643300"/>
            <a:ext cx="1380680" cy="1155597"/>
          </a:xfrm>
          <a:prstGeom prst="flowChartProcess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Color code - </a:t>
            </a:r>
          </a:p>
          <a:p>
            <a:pPr algn="ctr"/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Electrophysiology system</a:t>
            </a:r>
          </a:p>
          <a:p>
            <a:pPr algn="ctr"/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Clinical</a:t>
            </a:r>
          </a:p>
          <a:p>
            <a:pPr algn="ctr"/>
            <a:r>
              <a:rPr lang="en-US" sz="1200" dirty="0">
                <a:solidFill>
                  <a:srgbClr val="FF0000"/>
                </a:solidFill>
              </a:rPr>
              <a:t>Behavioral</a:t>
            </a:r>
            <a:endParaRPr lang="he-IL" sz="1200" dirty="0">
              <a:solidFill>
                <a:srgbClr val="FF0000"/>
              </a:solidFill>
            </a:endParaRPr>
          </a:p>
        </p:txBody>
      </p:sp>
      <p:sp>
        <p:nvSpPr>
          <p:cNvPr id="57" name="Flowchart: Process 56"/>
          <p:cNvSpPr/>
          <p:nvPr/>
        </p:nvSpPr>
        <p:spPr>
          <a:xfrm>
            <a:off x="5946882" y="1466861"/>
            <a:ext cx="2973413" cy="1337124"/>
          </a:xfrm>
          <a:prstGeom prst="flowChartProcess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sz="1200" b="1" dirty="0">
                <a:solidFill>
                  <a:srgbClr val="002060"/>
                </a:solidFill>
              </a:rPr>
              <a:t>Synchronization of neural data and behavioral log (laptop-based)</a:t>
            </a:r>
          </a:p>
          <a:p>
            <a:pPr algn="ctr"/>
            <a:endParaRPr lang="en-US" sz="1200" b="1" dirty="0">
              <a:solidFill>
                <a:srgbClr val="002060"/>
              </a:solidFill>
            </a:endParaRPr>
          </a:p>
          <a:p>
            <a:pPr algn="ctr"/>
            <a:r>
              <a:rPr lang="en-US" sz="1200" b="1" dirty="0">
                <a:solidFill>
                  <a:srgbClr val="002060"/>
                </a:solidFill>
              </a:rPr>
              <a:t>Localization of contacts in the brain (based on CT, MRI, implant plan) - </a:t>
            </a:r>
            <a:r>
              <a:rPr lang="en-US" sz="1200" b="1" dirty="0" err="1">
                <a:solidFill>
                  <a:srgbClr val="002060"/>
                </a:solidFill>
              </a:rPr>
              <a:t>iElvis</a:t>
            </a:r>
            <a:endParaRPr lang="he-IL" sz="1200" b="1" dirty="0">
              <a:solidFill>
                <a:srgbClr val="00206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181891" y="-30226"/>
            <a:ext cx="456090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Bird’s eye view on pre-processing pipeline </a:t>
            </a:r>
            <a:endParaRPr lang="he-IL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9821184" y="2886438"/>
            <a:ext cx="1347862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b="1" dirty="0"/>
              <a:t>Macros</a:t>
            </a:r>
            <a:endParaRPr lang="he-IL" sz="1400" b="1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13DFB89-9139-48A2-BE13-F96A78C8899F}"/>
              </a:ext>
            </a:extLst>
          </p:cNvPr>
          <p:cNvCxnSpPr>
            <a:cxnSpLocks/>
          </p:cNvCxnSpPr>
          <p:nvPr/>
        </p:nvCxnSpPr>
        <p:spPr>
          <a:xfrm flipH="1">
            <a:off x="8828437" y="5770707"/>
            <a:ext cx="549181" cy="55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44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A0CA3-A97F-478C-84AE-97BCE9F7F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RAW DATA COLLECTED PER SUBJECT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8B752-8B2F-42E7-BA5E-35AB9E102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Behavior</a:t>
            </a:r>
            <a:r>
              <a:rPr lang="en-US" dirty="0"/>
              <a:t> - Log file (timestamps based on laptop cup, quiz results, movement tracking) - daXXX_maze_log.csv </a:t>
            </a:r>
          </a:p>
          <a:p>
            <a:r>
              <a:rPr lang="en-US" dirty="0">
                <a:highlight>
                  <a:srgbClr val="FFFF00"/>
                </a:highlight>
              </a:rPr>
              <a:t>Neural recording  </a:t>
            </a:r>
            <a:r>
              <a:rPr lang="en-US" dirty="0"/>
              <a:t>- EDF files (can be opened via </a:t>
            </a:r>
            <a:r>
              <a:rPr lang="en-US" dirty="0" err="1"/>
              <a:t>EDFBrowser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Comments tracking start/end of task</a:t>
            </a:r>
          </a:p>
          <a:p>
            <a:pPr lvl="1"/>
            <a:r>
              <a:rPr lang="en-US" dirty="0"/>
              <a:t>DC channel for photodiode</a:t>
            </a:r>
          </a:p>
          <a:p>
            <a:pPr lvl="1"/>
            <a:r>
              <a:rPr lang="en-US" dirty="0"/>
              <a:t>Basic tracking of noise</a:t>
            </a:r>
          </a:p>
          <a:p>
            <a:pPr lvl="1"/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Pt Information in the room </a:t>
            </a:r>
            <a:r>
              <a:rPr lang="en-US" dirty="0"/>
              <a:t>– time, pt number, age, </a:t>
            </a:r>
            <a:r>
              <a:rPr lang="en-US" dirty="0" err="1"/>
              <a:t>handness</a:t>
            </a:r>
            <a:r>
              <a:rPr lang="en-US" dirty="0"/>
              <a:t>, when was the last seizure (minimum 3-4h post seizure)</a:t>
            </a:r>
          </a:p>
          <a:p>
            <a:r>
              <a:rPr lang="en-US" dirty="0">
                <a:highlight>
                  <a:srgbClr val="00FFFF"/>
                </a:highlight>
              </a:rPr>
              <a:t>Anatomy</a:t>
            </a:r>
            <a:r>
              <a:rPr lang="en-US" dirty="0"/>
              <a:t> – either through the BOX EEG folder, nurse, other researchers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483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5FFE0-908A-4FF6-8BE2-D2667B85E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67921"/>
            <a:ext cx="10515600" cy="1325563"/>
          </a:xfrm>
        </p:spPr>
        <p:txBody>
          <a:bodyPr/>
          <a:lstStyle/>
          <a:p>
            <a:r>
              <a:rPr lang="en-US" dirty="0"/>
              <a:t>Analysis steps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06BF8-4D2D-406E-AE10-CEAFD5A15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5588"/>
            <a:ext cx="10515600" cy="4784261"/>
          </a:xfrm>
        </p:spPr>
        <p:txBody>
          <a:bodyPr>
            <a:normAutofit fontScale="55000" lnSpcReduction="20000"/>
          </a:bodyPr>
          <a:lstStyle/>
          <a:p>
            <a:r>
              <a:rPr lang="en-US" sz="1800" dirty="0">
                <a:highlight>
                  <a:srgbClr val="FFFF00"/>
                </a:highlight>
              </a:rPr>
              <a:t>Creating a montage file  </a:t>
            </a:r>
            <a:r>
              <a:rPr lang="en-US" sz="1800" dirty="0"/>
              <a:t>(spreadsheet is manual – daXXX.csv under </a:t>
            </a:r>
            <a:r>
              <a:rPr lang="en-US" sz="1800" dirty="0" err="1"/>
              <a:t>ptData</a:t>
            </a:r>
            <a:r>
              <a:rPr lang="en-US" sz="1800" dirty="0"/>
              <a:t>, examples of generated montage files are under MACRO_MONTAGE)</a:t>
            </a:r>
          </a:p>
          <a:p>
            <a:endParaRPr lang="en-US" sz="1800" dirty="0"/>
          </a:p>
          <a:p>
            <a:r>
              <a:rPr lang="en-US" sz="1800" dirty="0">
                <a:highlight>
                  <a:srgbClr val="FFFF00"/>
                </a:highlight>
              </a:rPr>
              <a:t>Synchronization</a:t>
            </a:r>
            <a:r>
              <a:rPr lang="en-US" sz="1800" dirty="0"/>
              <a:t> – input files are the DC (photodiode output) + behavioral log</a:t>
            </a:r>
          </a:p>
          <a:p>
            <a:pPr marL="0" indent="0">
              <a:buNone/>
            </a:pPr>
            <a:r>
              <a:rPr lang="en-US" sz="1800" dirty="0"/>
              <a:t>Documented here - iEEG-Maze-</a:t>
            </a:r>
            <a:r>
              <a:rPr lang="en-US" sz="1800" dirty="0" err="1"/>
              <a:t>NeuralDrift</a:t>
            </a:r>
            <a:r>
              <a:rPr lang="en-US" sz="1800" dirty="0"/>
              <a:t>\ANALYSIS\Synchronization\</a:t>
            </a:r>
            <a:r>
              <a:rPr lang="en-US" sz="1800" dirty="0" err="1"/>
              <a:t>MazeiEEG</a:t>
            </a:r>
            <a:r>
              <a:rPr lang="en-US" sz="1800" dirty="0"/>
              <a:t>-Maze-</a:t>
            </a:r>
            <a:r>
              <a:rPr lang="en-US" sz="1800" dirty="0" err="1"/>
              <a:t>NeuralDrift</a:t>
            </a:r>
            <a:r>
              <a:rPr lang="en-US" sz="1800" dirty="0"/>
              <a:t>\ANALYSIS\Synchronization\Maze</a:t>
            </a:r>
          </a:p>
          <a:p>
            <a:pPr marL="0" indent="0">
              <a:buNone/>
            </a:pPr>
            <a:r>
              <a:rPr lang="en-US" sz="1800" dirty="0"/>
              <a:t>Manual process where you validate that the TTL-detections are accurate.</a:t>
            </a:r>
          </a:p>
          <a:p>
            <a:pPr marL="0" indent="0">
              <a:buNone/>
            </a:pPr>
            <a:r>
              <a:rPr lang="en-US" sz="1800" dirty="0"/>
              <a:t>Pt-specific script – for example - IR106_extract_photoDiode_TTLs_template_Dec52024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>
                <a:highlight>
                  <a:srgbClr val="FFFF00"/>
                </a:highlight>
              </a:rPr>
              <a:t>Extract the EDF </a:t>
            </a:r>
            <a:r>
              <a:rPr lang="en-US" sz="1800" dirty="0">
                <a:highlight>
                  <a:srgbClr val="FFFF00"/>
                </a:highlight>
                <a:sym typeface="Wingdings" panose="05000000000000000000" pitchFamily="2" charset="2"/>
              </a:rPr>
              <a:t> .mat files 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Extraction Per subject is done via scripts - </a:t>
            </a:r>
            <a:r>
              <a:rPr lang="en-US" sz="1800" dirty="0" err="1">
                <a:sym typeface="Wingdings" panose="05000000000000000000" pitchFamily="2" charset="2"/>
              </a:rPr>
              <a:t>preProcess_DAXXX</a:t>
            </a:r>
            <a:r>
              <a:rPr lang="en-US" sz="1800" dirty="0">
                <a:sym typeface="Wingdings" panose="05000000000000000000" pitchFamily="2" charset="2"/>
              </a:rPr>
              <a:t> which document the source, and the process of creating the processed LFP signal folder Maze_2.0\</a:t>
            </a:r>
            <a:r>
              <a:rPr lang="en-US" sz="1800" dirty="0" err="1">
                <a:sym typeface="Wingdings" panose="05000000000000000000" pitchFamily="2" charset="2"/>
              </a:rPr>
              <a:t>data_p</a:t>
            </a:r>
            <a:r>
              <a:rPr lang="en-US" sz="1800" dirty="0">
                <a:sym typeface="Wingdings" panose="05000000000000000000" pitchFamily="2" charset="2"/>
              </a:rPr>
              <a:t>\DAXXX\EXPX\</a:t>
            </a:r>
            <a:r>
              <a:rPr lang="en-US" sz="1800" dirty="0" err="1">
                <a:sym typeface="Wingdings" panose="05000000000000000000" pitchFamily="2" charset="2"/>
              </a:rPr>
              <a:t>Denoised_Downsampled_InMicroVolt</a:t>
            </a:r>
            <a:r>
              <a:rPr lang="en-US" sz="1800" dirty="0">
                <a:sym typeface="Wingdings" panose="05000000000000000000" pitchFamily="2" charset="2"/>
              </a:rPr>
              <a:t>\MACRO</a:t>
            </a:r>
          </a:p>
          <a:p>
            <a:pPr marL="0" indent="0">
              <a:buNone/>
            </a:pPr>
            <a:r>
              <a:rPr lang="en-US" sz="1800" dirty="0">
                <a:sym typeface="Wingdings" panose="05000000000000000000" pitchFamily="2" charset="2"/>
              </a:rPr>
              <a:t>It uses scripts like – </a:t>
            </a:r>
            <a:r>
              <a:rPr lang="en-US" sz="1800" b="0" i="0" dirty="0" err="1">
                <a:effectLst/>
              </a:rPr>
              <a:t>getmemMazeExperimentHeader</a:t>
            </a:r>
            <a:r>
              <a:rPr lang="en-US" sz="1800" b="0" i="0" dirty="0">
                <a:effectLst/>
              </a:rPr>
              <a:t>, </a:t>
            </a:r>
            <a:r>
              <a:rPr lang="en-US" sz="1800" b="0" i="0" dirty="0" err="1">
                <a:effectLst/>
              </a:rPr>
              <a:t>preProcessDepthUCD</a:t>
            </a:r>
            <a:r>
              <a:rPr lang="en-US" sz="1800" b="0" i="0" dirty="0">
                <a:effectLst/>
              </a:rPr>
              <a:t>, </a:t>
            </a:r>
            <a:r>
              <a:rPr lang="en-US" sz="1800" b="0" i="0" dirty="0" err="1">
                <a:effectLst/>
              </a:rPr>
              <a:t>readEdfChannelLocal</a:t>
            </a:r>
            <a:endParaRPr lang="en-US" sz="1800" b="0" i="0" dirty="0">
              <a:effectLst/>
            </a:endParaRPr>
          </a:p>
          <a:p>
            <a:pPr marL="0" indent="0">
              <a:buNone/>
            </a:pPr>
            <a:r>
              <a:rPr lang="en-US" sz="1800" b="0" i="0" dirty="0">
                <a:effectLst/>
              </a:rPr>
              <a:t>Extracts the EDF</a:t>
            </a:r>
          </a:p>
          <a:p>
            <a:pPr marL="0" indent="0">
              <a:buNone/>
            </a:pPr>
            <a:r>
              <a:rPr lang="en-US" sz="1800" dirty="0"/>
              <a:t>Cleans line noise</a:t>
            </a:r>
          </a:p>
          <a:p>
            <a:pPr marL="0" indent="0">
              <a:buNone/>
            </a:pPr>
            <a:r>
              <a:rPr lang="en-US" sz="1800" b="0" i="0" dirty="0">
                <a:effectLst/>
              </a:rPr>
              <a:t>Resamples to 1kHz</a:t>
            </a:r>
          </a:p>
          <a:p>
            <a:pPr marL="0" indent="0">
              <a:buNone/>
            </a:pPr>
            <a:r>
              <a:rPr lang="en-US" sz="1800" b="0" i="0" dirty="0">
                <a:effectLst/>
              </a:rPr>
              <a:t>Renames the channels based on the </a:t>
            </a:r>
            <a:r>
              <a:rPr lang="en-US" sz="1800" b="0" i="0" dirty="0" err="1">
                <a:effectLst/>
              </a:rPr>
              <a:t>macromontage</a:t>
            </a:r>
            <a:endParaRPr lang="en-US" sz="1800" b="0" i="0" dirty="0">
              <a:effectLst/>
            </a:endParaRPr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0" i="0" dirty="0">
                <a:effectLst/>
              </a:rPr>
              <a:t>Label bad channels in macro-montage - </a:t>
            </a:r>
            <a:r>
              <a:rPr lang="nl-NL" sz="1800" b="0" i="0" dirty="0">
                <a:effectLst/>
              </a:rPr>
              <a:t>Box\iEEG_MAZE_project\CODE\iEEG_extraction (recommendations at badChans documentation.</a:t>
            </a:r>
            <a:r>
              <a:rPr lang="en-US" sz="1800" b="0" i="0" dirty="0">
                <a:effectLst/>
              </a:rPr>
              <a:t>docx)</a:t>
            </a:r>
          </a:p>
          <a:p>
            <a:r>
              <a:rPr lang="en-US" sz="1800" dirty="0"/>
              <a:t>Identify areas of interest that are relevant to your analysis</a:t>
            </a:r>
          </a:p>
          <a:p>
            <a:endParaRPr lang="en-US" sz="1800" b="0" i="0" dirty="0">
              <a:effectLst/>
            </a:endParaRPr>
          </a:p>
          <a:p>
            <a:r>
              <a:rPr lang="en-US" sz="1800" dirty="0"/>
              <a:t>Once the Macro channels are organized in the </a:t>
            </a:r>
            <a:r>
              <a:rPr lang="en-US" sz="1800" dirty="0" err="1"/>
              <a:t>data_p</a:t>
            </a:r>
            <a:r>
              <a:rPr lang="en-US" sz="1800" dirty="0"/>
              <a:t> folder, you can use –\memMaze-code\</a:t>
            </a:r>
            <a:r>
              <a:rPr lang="en-US" sz="1800" dirty="0" err="1"/>
              <a:t>useExample_AnalyzeMazeNeuralActivity_MACRO.m</a:t>
            </a:r>
            <a:endParaRPr lang="en-US" sz="1800" dirty="0"/>
          </a:p>
          <a:p>
            <a:r>
              <a:rPr lang="en-US" sz="1800" dirty="0"/>
              <a:t>Class of functions that calculate neural markers, spectral analysis </a:t>
            </a:r>
            <a:r>
              <a:rPr lang="en-US" sz="1800"/>
              <a:t>and stats</a:t>
            </a:r>
            <a:endParaRPr lang="en-US" sz="1800" dirty="0"/>
          </a:p>
          <a:p>
            <a:endParaRPr lang="en-US" sz="1800" b="0" i="0" dirty="0">
              <a:effectLst/>
            </a:endParaRP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b="0" i="0" dirty="0">
              <a:effectLst/>
            </a:endParaRPr>
          </a:p>
          <a:p>
            <a:pPr marL="0" indent="0">
              <a:buNone/>
            </a:pPr>
            <a:endParaRPr lang="en-US" sz="1800" b="0" i="0" dirty="0">
              <a:effectLst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363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668</Words>
  <Application>Microsoft Office PowerPoint</Application>
  <PresentationFormat>Widescreen</PresentationFormat>
  <Paragraphs>85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RAW DATA COLLECTED PER SUBJECT</vt:lpstr>
      <vt:lpstr>Analysis steps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Maya GS</dc:creator>
  <cp:lastModifiedBy>Maya GS</cp:lastModifiedBy>
  <cp:revision>21</cp:revision>
  <dcterms:created xsi:type="dcterms:W3CDTF">2022-11-04T22:49:48Z</dcterms:created>
  <dcterms:modified xsi:type="dcterms:W3CDTF">2026-02-03T19:16:04Z</dcterms:modified>
</cp:coreProperties>
</file>